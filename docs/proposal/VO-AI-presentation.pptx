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【WH · 约10秒】</a:t>
            </a:r>
          </a:p>
          <a:p>
            <a:r>
              <a:t>大家好，我们是GUD团队。我们的作品VO-AI，是一个工程变更令智能平台：让每一份工程变更令，都按合同算清楚。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【WH · 约10秒】</a:t>
            </a:r>
          </a:p>
          <a:p>
            <a:r>
              <a:t>业主改一次设计，就会产生一份工程变更令。承包商申报，咨询测量师核价，业主核证付款，三方都牵涉其中。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【WH · 约15秒】</a:t>
            </a:r>
          </a:p>
          <a:p>
            <a:r>
              <a:t>可是今天，资料分散，核价靠人工，条款靠经验，时限靠记忆。在我们的示范案例里，单单一行踢脚线就差了一千五百多令吉——漏掉一个单价，就有人被多付或少付。</a:t>
            </a:r>
          </a:p>
          <a:p/>
          <a:p>
            <a:r>
              <a:t>（偏长时可砍：「漏掉一个单价，就有人被多付或少付」。一千五百多令吉来自示范项目，不是行业统计。）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【WH · 过渡，不另说话】</a:t>
            </a:r>
          </a:p>
          <a:p>
            <a:r>
              <a:t>第3页最后一句说完后翻到这一页，停一秒让评委看清问题，再交给ZQ。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【ZQ · 约15秒】</a:t>
            </a:r>
          </a:p>
          <a:p>
            <a:r>
              <a:t>VO-AI让三方共用同一个登记册，每个人只看到自己要填的部分。系统自动核对合同单价、找出适用条款、提醒连带计量和合同时限，最后一键生成报告和Excel。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【CY · 约20秒】</a:t>
            </a:r>
          </a:p>
          <a:p>
            <a:r>
              <a:t>技术上，它是一个基于规则的智能体：读取资料、推理判断、提出提醒、记录每一次修改。这里有一条铁律：所有金额只由规则引擎计算，AI不碰数字；下一版再让大语言模型负责读懂文字。</a:t>
            </a:r>
          </a:p>
          <a:p/>
          <a:p>
            <a:r>
              <a:t>（偏长时可砍：「下一版再让大语言模型负责读懂文字」。）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 · 约12秒】</a:t>
            </a:r>
          </a:p>
          <a:p>
            <a:r>
              <a:t>左边是三方使用者，中间是在浏览器里运行的智能体引擎和知识库，右边输出报告、Excel和时限提醒。接下来请看演示。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【Serena · 视频 2 分钟】</a:t>
            </a:r>
          </a:p>
          <a:p>
            <a:r>
              <a:t>（播放演示视频。）</a:t>
            </a:r>
          </a:p>
          <a:p>
            <a:r>
              <a:t>导出为 PowerPoint 或 Google 幻灯片后，把录好的视频放进左边的虚线框。</a:t>
            </a:r>
          </a:p>
          <a:p>
            <a:r>
              <a:t>视频脚本：docs/proposal/video-script-2min.md；旁白：docs/proposal/video-narration-words.md。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【ZQ · 约17秒】</a:t>
            </a:r>
          </a:p>
          <a:p>
            <a:r>
              <a:t>我们的不同在四点：不确定就说不知道，绝不编造；自己找到对应的清单项目并说明理由；懂得一处变更会牵动其他工程；而且承包商提交前就能自查，一次通过，回款更快。</a:t>
            </a:r>
          </a:p>
          <a:p/>
          <a:p>
            <a:r>
              <a:t>（偏长时可砍：「一次通过，回款更快」。）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【CY · 约18秒】</a:t>
            </a:r>
          </a:p>
          <a:p>
            <a:r>
              <a:t>回到主题：为人民建好房，为工友谋幸福。在示范案例里，系统找出了近七千令吉的差额。对测量师，是提效也是学习；对项目，是一次流程优化；核证更快，工友也能更早收款。谢谢大家。（说完翻到最后一页「谢谢」。）</a:t>
            </a:r>
          </a:p>
          <a:p/>
          <a:p>
            <a:r>
              <a:t>（近七千令吉来自示范项目；「工友更早收款」是间接影响，被追问时如实说。）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【全体 · 问答】</a:t>
            </a:r>
          </a:p>
          <a:p>
            <a:r>
              <a:t>停在这一页回答评委提问。常见问题与答法见 docs/proposal/defence-QA.md。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2600" y="330200"/>
            <a:ext cx="355600" cy="355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74400" y="330200"/>
            <a:ext cx="635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spc="50">
                <a:solidFill>
                  <a:srgbClr val="F6F4EF"/>
                </a:solidFill>
                <a:latin typeface="DM Sans"/>
                <a:ea typeface="Noto Sans SC"/>
                <a:cs typeface="DM Sans"/>
              </a:rPr>
              <a:t>VO-AI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50000"/>
            <a:ext cx="635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50">
                <a:solidFill>
                  <a:srgbClr val="8C95AD"/>
                </a:solidFill>
                <a:latin typeface="Noto Sans SC"/>
                <a:ea typeface="Noto Sans SC"/>
                <a:cs typeface="Noto Sans SC"/>
              </a:rPr>
              <a:t>GUD · 海之子杯 AI智能体挑战计划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6350000"/>
            <a:ext cx="3327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spc="50">
                <a:solidFill>
                  <a:srgbClr val="8C95AD"/>
                </a:solidFill>
                <a:latin typeface="DM Sans"/>
                <a:ea typeface="Noto Sans SC"/>
                <a:cs typeface="DM Sans"/>
              </a:rPr>
              <a:t>WH · 01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1460500"/>
            <a:ext cx="1016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300">
                <a:solidFill>
                  <a:srgbClr val="E8A54B"/>
                </a:solidFill>
                <a:latin typeface="DM Sans"/>
                <a:ea typeface="Noto Sans SC"/>
                <a:cs typeface="DM Sans"/>
              </a:rPr>
              <a:t>GUD TEAM · 海之子杯 AI智能体挑战计划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1841500"/>
            <a:ext cx="1016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0" b="1">
                <a:solidFill>
                  <a:srgbClr val="F6F4EF"/>
                </a:solidFill>
                <a:latin typeface="DM Sans"/>
                <a:ea typeface="Noto Sans SC"/>
                <a:cs typeface="DM Sans"/>
              </a:rPr>
              <a:t>VO-AI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3175000"/>
            <a:ext cx="10160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工程变更令</a:t>
            </a:r>
            <a:r>
              <a:rPr sz="3800" b="1">
                <a:solidFill>
                  <a:srgbClr val="E8A54B"/>
                </a:solidFill>
                <a:latin typeface="Noto Sans SC"/>
                <a:ea typeface="Noto Sans SC"/>
                <a:cs typeface="Noto Sans SC"/>
              </a:rPr>
              <a:t>智能平台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3905250"/>
            <a:ext cx="10160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让每一份工程变更令，都按合同算清楚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" y="4445000"/>
            <a:ext cx="3556000" cy="4191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E8A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2800" y="4445000"/>
            <a:ext cx="3556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8A54B"/>
                </a:solidFill>
                <a:latin typeface="Noto Sans SC"/>
                <a:ea typeface="Noto Sans SC"/>
                <a:cs typeface="Noto Sans SC"/>
              </a:rPr>
              <a:t>为人民建好房 · 为工友谋幸福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5143500"/>
            <a:ext cx="1016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spc="50">
                <a:solidFill>
                  <a:srgbClr val="8C95AD"/>
                </a:solidFill>
                <a:latin typeface="DM Sans"/>
                <a:ea typeface="Noto Sans SC"/>
                <a:cs typeface="DM Sans"/>
              </a:rPr>
              <a:t>Ong Wei Han · Tang Chee Yang · Serena Wong Yuet Tong · Tan Zi Qian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2600" y="330200"/>
            <a:ext cx="355600" cy="355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74400" y="330200"/>
            <a:ext cx="635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spc="50">
                <a:solidFill>
                  <a:srgbClr val="F6F4EF"/>
                </a:solidFill>
                <a:latin typeface="DM Sans"/>
                <a:ea typeface="Noto Sans SC"/>
                <a:cs typeface="DM Sans"/>
              </a:rPr>
              <a:t>VO-AI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50000"/>
            <a:ext cx="635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50">
                <a:solidFill>
                  <a:srgbClr val="8C95AD"/>
                </a:solidFill>
                <a:latin typeface="Noto Sans SC"/>
                <a:ea typeface="Noto Sans SC"/>
                <a:cs typeface="Noto Sans SC"/>
              </a:rPr>
              <a:t>GUD · 海之子杯 AI智能体挑战计划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6350000"/>
            <a:ext cx="3327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spc="50">
                <a:solidFill>
                  <a:srgbClr val="8C95AD"/>
                </a:solidFill>
                <a:latin typeface="DM Sans"/>
                <a:ea typeface="Noto Sans SC"/>
                <a:cs typeface="DM Sans"/>
              </a:rPr>
              <a:t>WH · 02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698500"/>
            <a:ext cx="952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300">
                <a:solidFill>
                  <a:srgbClr val="E8A54B"/>
                </a:solidFill>
                <a:latin typeface="DM Sans"/>
                <a:ea typeface="Noto Sans SC"/>
                <a:cs typeface="DM Sans"/>
              </a:rPr>
              <a:t>BACKGROUND · 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977900"/>
            <a:ext cx="10566400" cy="1092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一个指令，</a:t>
            </a:r>
          </a:p>
          <a:p>
            <a:pPr algn="l">
              <a:lnSpc>
                <a:spcPct val="110000"/>
              </a:lnSpc>
            </a:pPr>
            <a:r>
              <a:rPr sz="3600" b="1">
                <a:solidFill>
                  <a:srgbClr val="E8A54B"/>
                </a:solidFill>
                <a:latin typeface="Noto Sans SC"/>
                <a:ea typeface="Noto Sans SC"/>
                <a:cs typeface="Noto Sans SC"/>
              </a:rPr>
              <a:t>牵动三方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2190750"/>
            <a:ext cx="105664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业主改一次设计，就要重新计量、对照合同核价、找条款、走审批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800" y="2667000"/>
            <a:ext cx="3111500" cy="1714500"/>
          </a:xfrm>
          <a:prstGeom prst="roundRect">
            <a:avLst>
              <a:gd name="adj" fmla="val 7407"/>
            </a:avLst>
          </a:prstGeom>
          <a:solidFill>
            <a:srgbClr val="1C2440"/>
          </a:solidFill>
          <a:ln w="12700">
            <a:solidFill>
              <a:srgbClr val="2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2870200"/>
            <a:ext cx="2705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F2B66B"/>
                </a:solidFill>
                <a:latin typeface="DM Sans"/>
                <a:ea typeface="Noto Sans SC"/>
                <a:cs typeface="DM Sans"/>
              </a:rPr>
              <a:t>CLAIM · 申报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143250"/>
            <a:ext cx="27051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承包商工料测量师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3587750"/>
            <a:ext cx="27051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收到指令，计量变更工程，申报金额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51300" y="3429000"/>
            <a:ext cx="355600" cy="203200"/>
          </a:xfrm>
          <a:prstGeom prst="rightArrow">
            <a:avLst/>
          </a:prstGeom>
          <a:solidFill>
            <a:srgbClr val="E8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40250" y="2667000"/>
            <a:ext cx="3111500" cy="1714500"/>
          </a:xfrm>
          <a:prstGeom prst="roundRect">
            <a:avLst>
              <a:gd name="adj" fmla="val 7407"/>
            </a:avLst>
          </a:prstGeom>
          <a:solidFill>
            <a:srgbClr val="1C2440"/>
          </a:solidFill>
          <a:ln w="12700">
            <a:solidFill>
              <a:srgbClr val="2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3450" y="2870200"/>
            <a:ext cx="2705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7D97FF"/>
                </a:solidFill>
                <a:latin typeface="DM Sans"/>
                <a:ea typeface="Noto Sans SC"/>
                <a:cs typeface="DM Sans"/>
              </a:rPr>
              <a:t>ASSESS · 评估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3450" y="3143250"/>
            <a:ext cx="27051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咨询工料测量师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3450" y="3587750"/>
            <a:ext cx="27051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逐项对照合同清单核价，评估工期影响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778750" y="3429000"/>
            <a:ext cx="355600" cy="203200"/>
          </a:xfrm>
          <a:prstGeom prst="rightArrow">
            <a:avLst/>
          </a:prstGeom>
          <a:solidFill>
            <a:srgbClr val="E8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67700" y="2667000"/>
            <a:ext cx="3111500" cy="1714500"/>
          </a:xfrm>
          <a:prstGeom prst="roundRect">
            <a:avLst>
              <a:gd name="adj" fmla="val 7407"/>
            </a:avLst>
          </a:prstGeom>
          <a:solidFill>
            <a:srgbClr val="1C2440"/>
          </a:solidFill>
          <a:ln w="12700">
            <a:solidFill>
              <a:srgbClr val="2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0900" y="2870200"/>
            <a:ext cx="2705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5FD39A"/>
                </a:solidFill>
                <a:latin typeface="DM Sans"/>
                <a:ea typeface="Noto Sans SC"/>
                <a:cs typeface="DM Sans"/>
              </a:rPr>
              <a:t>CERTIFY · 核证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0900" y="3143250"/>
            <a:ext cx="27051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业主 / 发展商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0900" y="3587750"/>
            <a:ext cx="27051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审阅建议，核证最终金额并付款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2800" y="4667250"/>
            <a:ext cx="38100" cy="533400"/>
          </a:xfrm>
          <a:prstGeom prst="rect">
            <a:avLst/>
          </a:prstGeom>
          <a:solidFill>
            <a:srgbClr val="E8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8700" y="4667250"/>
            <a:ext cx="5715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8A54B"/>
                </a:solidFill>
                <a:latin typeface="Noto Sans SC"/>
                <a:ea typeface="Noto Sans SC"/>
                <a:cs typeface="Noto Sans SC"/>
              </a:rPr>
              <a:t>例子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3700" y="4667250"/>
            <a:ext cx="97155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客厅地砖由瓷砖改为大理石 → 删减 320 m² 瓷砖、新增 320 m² 大理石、168 m 踢脚线也要重新计量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2600" y="330200"/>
            <a:ext cx="355600" cy="355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74400" y="330200"/>
            <a:ext cx="635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spc="50">
                <a:solidFill>
                  <a:srgbClr val="F6F4EF"/>
                </a:solidFill>
                <a:latin typeface="DM Sans"/>
                <a:ea typeface="Noto Sans SC"/>
                <a:cs typeface="DM Sans"/>
              </a:rPr>
              <a:t>VO-AI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50000"/>
            <a:ext cx="635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50">
                <a:solidFill>
                  <a:srgbClr val="8C95AD"/>
                </a:solidFill>
                <a:latin typeface="Noto Sans SC"/>
                <a:ea typeface="Noto Sans SC"/>
                <a:cs typeface="Noto Sans SC"/>
              </a:rPr>
              <a:t>GUD · 海之子杯 AI智能体挑战计划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6350000"/>
            <a:ext cx="3327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spc="50">
                <a:solidFill>
                  <a:srgbClr val="8C95AD"/>
                </a:solidFill>
                <a:latin typeface="DM Sans"/>
                <a:ea typeface="Noto Sans SC"/>
                <a:cs typeface="DM Sans"/>
              </a:rPr>
              <a:t>WH · 03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698500"/>
            <a:ext cx="952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300">
                <a:solidFill>
                  <a:srgbClr val="E8A54B"/>
                </a:solidFill>
                <a:latin typeface="DM Sans"/>
                <a:ea typeface="Noto Sans SC"/>
                <a:cs typeface="DM Sans"/>
              </a:rPr>
              <a:t>PROBLEM STATEMENT · 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977900"/>
            <a:ext cx="10566400" cy="1092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今天的做法：</a:t>
            </a:r>
          </a:p>
          <a:p>
            <a:pPr algn="l">
              <a:lnSpc>
                <a:spcPct val="110000"/>
              </a:lnSpc>
            </a:pPr>
            <a:r>
              <a:rPr sz="3600" b="1">
                <a:solidFill>
                  <a:srgbClr val="E8A54B"/>
                </a:solidFill>
                <a:latin typeface="Noto Sans SC"/>
                <a:ea typeface="Noto Sans SC"/>
                <a:cs typeface="Noto Sans SC"/>
              </a:rPr>
              <a:t>靠人工、靠经验、靠记忆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2286000"/>
            <a:ext cx="2527300" cy="2095500"/>
          </a:xfrm>
          <a:prstGeom prst="roundRect">
            <a:avLst>
              <a:gd name="adj" fmla="val 6060"/>
            </a:avLst>
          </a:prstGeom>
          <a:solidFill>
            <a:srgbClr val="1C2440"/>
          </a:solidFill>
          <a:ln w="12700">
            <a:solidFill>
              <a:srgbClr val="2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6000" y="2489200"/>
            <a:ext cx="406400" cy="4064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2182A"/>
                </a:solidFill>
                <a:latin typeface="DM Sans"/>
                <a:ea typeface="Noto Sans SC"/>
                <a:cs typeface="DM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022600"/>
            <a:ext cx="21209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资料分散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403600"/>
            <a:ext cx="21209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电邮、Excel、图纸、聊天群组，各在各处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2500" y="2286000"/>
            <a:ext cx="2527300" cy="2095500"/>
          </a:xfrm>
          <a:prstGeom prst="roundRect">
            <a:avLst>
              <a:gd name="adj" fmla="val 6060"/>
            </a:avLst>
          </a:prstGeom>
          <a:solidFill>
            <a:srgbClr val="1C2440"/>
          </a:solidFill>
          <a:ln w="12700">
            <a:solidFill>
              <a:srgbClr val="2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95700" y="2489200"/>
            <a:ext cx="406400" cy="4064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2182A"/>
                </a:solidFill>
                <a:latin typeface="DM Sans"/>
                <a:ea typeface="Noto Sans SC"/>
                <a:cs typeface="DM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5700" y="3022600"/>
            <a:ext cx="21209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逐项人工核价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5700" y="3403600"/>
            <a:ext cx="21209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每个申索单价都要手动对照合同清单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286000"/>
            <a:ext cx="2527300" cy="2095500"/>
          </a:xfrm>
          <a:prstGeom prst="roundRect">
            <a:avLst>
              <a:gd name="adj" fmla="val 6060"/>
            </a:avLst>
          </a:prstGeom>
          <a:solidFill>
            <a:srgbClr val="1C2440"/>
          </a:solidFill>
          <a:ln w="12700">
            <a:solidFill>
              <a:srgbClr val="2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5400" y="2489200"/>
            <a:ext cx="406400" cy="4064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2182A"/>
                </a:solidFill>
                <a:latin typeface="DM Sans"/>
                <a:ea typeface="Noto Sans SC"/>
                <a:cs typeface="DM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5400" y="3022600"/>
            <a:ext cx="21209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条款证据难找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5400" y="3403600"/>
            <a:ext cx="21209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适用哪一条款？要附什么证明？连带工程有没有漏？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51900" y="2286000"/>
            <a:ext cx="2527300" cy="2095500"/>
          </a:xfrm>
          <a:prstGeom prst="roundRect">
            <a:avLst>
              <a:gd name="adj" fmla="val 6060"/>
            </a:avLst>
          </a:prstGeom>
          <a:solidFill>
            <a:srgbClr val="1C2440"/>
          </a:solidFill>
          <a:ln w="12700">
            <a:solidFill>
              <a:srgbClr val="2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055100" y="2489200"/>
            <a:ext cx="406400" cy="4064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2182A"/>
                </a:solidFill>
                <a:latin typeface="DM Sans"/>
                <a:ea typeface="Noto Sans SC"/>
                <a:cs typeface="DM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5100" y="3022600"/>
            <a:ext cx="21209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时限容易错过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5100" y="3403600"/>
            <a:ext cx="21209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评估 30 天、补充资料 28 天、回复 28 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800" y="4603750"/>
            <a:ext cx="10566400" cy="1333500"/>
          </a:xfrm>
          <a:prstGeom prst="roundRect">
            <a:avLst>
              <a:gd name="adj" fmla="val 9523"/>
            </a:avLst>
          </a:prstGeom>
          <a:solidFill>
            <a:srgbClr val="1C2440"/>
          </a:solidFill>
          <a:ln w="12700">
            <a:solidFill>
              <a:srgbClr val="E8A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2200" y="4826000"/>
            <a:ext cx="2984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E8A54B"/>
                </a:solidFill>
                <a:latin typeface="DM Sans"/>
                <a:ea typeface="Noto Sans SC"/>
                <a:cs typeface="DM Sans"/>
              </a:rPr>
              <a:t>RM 1,512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2200" y="54610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示范案例中的一行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8000" y="4603750"/>
            <a:ext cx="6794500" cy="1333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踢脚线申索 RM 31/m，合同清单只有 RM 22/m，168 m 就差 RM 1,512。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漏掉一个单价，就有人被多付或少付。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2600" y="330200"/>
            <a:ext cx="355600" cy="355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74400" y="330200"/>
            <a:ext cx="635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spc="50">
                <a:solidFill>
                  <a:srgbClr val="F6F4EF"/>
                </a:solidFill>
                <a:latin typeface="DM Sans"/>
                <a:ea typeface="Noto Sans SC"/>
                <a:cs typeface="DM Sans"/>
              </a:rPr>
              <a:t>VO-AI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50000"/>
            <a:ext cx="635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50">
                <a:solidFill>
                  <a:srgbClr val="8C95AD"/>
                </a:solidFill>
                <a:latin typeface="Noto Sans SC"/>
                <a:ea typeface="Noto Sans SC"/>
                <a:cs typeface="Noto Sans SC"/>
              </a:rPr>
              <a:t>GUD · 海之子杯 AI智能体挑战计划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6350000"/>
            <a:ext cx="3327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spc="50">
                <a:solidFill>
                  <a:srgbClr val="8C95AD"/>
                </a:solidFill>
                <a:latin typeface="DM Sans"/>
                <a:ea typeface="Noto Sans SC"/>
                <a:cs typeface="DM Sans"/>
              </a:rPr>
              <a:t>WH · 04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1714500"/>
            <a:ext cx="1016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300">
                <a:solidFill>
                  <a:srgbClr val="E8A54B"/>
                </a:solidFill>
                <a:latin typeface="DM Sans"/>
                <a:ea typeface="Noto Sans SC"/>
                <a:cs typeface="DM Sans"/>
              </a:rPr>
              <a:t>THE QUESTION · 我们的问题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2032000"/>
            <a:ext cx="10566400" cy="241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谁来帮测量师，把散落的资料，</a:t>
            </a:r>
          </a:p>
          <a:p>
            <a:pPr algn="l">
              <a:lnSpc>
                <a:spcPct val="115000"/>
              </a:lnSpc>
            </a:pPr>
            <a:r>
              <a:rPr sz="46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变成</a:t>
            </a:r>
            <a:r>
              <a:rPr sz="4600" b="1">
                <a:solidFill>
                  <a:srgbClr val="E8A54B"/>
                </a:solidFill>
                <a:latin typeface="Noto Sans SC"/>
                <a:ea typeface="Noto Sans SC"/>
                <a:cs typeface="Noto Sans SC"/>
              </a:rPr>
              <a:t>按合同算得清</a:t>
            </a:r>
            <a:r>
              <a:rPr sz="46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的</a:t>
            </a:r>
          </a:p>
          <a:p>
            <a:pPr algn="l">
              <a:lnSpc>
                <a:spcPct val="115000"/>
              </a:lnSpc>
            </a:pPr>
            <a:r>
              <a:rPr sz="46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工程变更令？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" y="4699000"/>
            <a:ext cx="1016000" cy="50800"/>
          </a:xfrm>
          <a:prstGeom prst="rect">
            <a:avLst/>
          </a:prstGeom>
          <a:solidFill>
            <a:srgbClr val="E8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2600" y="330200"/>
            <a:ext cx="355600" cy="355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74400" y="330200"/>
            <a:ext cx="635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spc="50">
                <a:solidFill>
                  <a:srgbClr val="F6F4EF"/>
                </a:solidFill>
                <a:latin typeface="DM Sans"/>
                <a:ea typeface="Noto Sans SC"/>
                <a:cs typeface="DM Sans"/>
              </a:rPr>
              <a:t>VO-AI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50000"/>
            <a:ext cx="635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50">
                <a:solidFill>
                  <a:srgbClr val="8C95AD"/>
                </a:solidFill>
                <a:latin typeface="Noto Sans SC"/>
                <a:ea typeface="Noto Sans SC"/>
                <a:cs typeface="Noto Sans SC"/>
              </a:rPr>
              <a:t>GUD · 海之子杯 AI智能体挑战计划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6350000"/>
            <a:ext cx="3327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spc="50">
                <a:solidFill>
                  <a:srgbClr val="8C95AD"/>
                </a:solidFill>
                <a:latin typeface="DM Sans"/>
                <a:ea typeface="Noto Sans SC"/>
                <a:cs typeface="DM Sans"/>
              </a:rPr>
              <a:t>ZQ · 05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698500"/>
            <a:ext cx="952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300">
                <a:solidFill>
                  <a:srgbClr val="E8A54B"/>
                </a:solidFill>
                <a:latin typeface="DM Sans"/>
                <a:ea typeface="Noto Sans SC"/>
                <a:cs typeface="DM Sans"/>
              </a:rPr>
              <a:t>PRODUCT · 产品功能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977900"/>
            <a:ext cx="10566400" cy="1035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三方共用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E8A54B"/>
                </a:solidFill>
                <a:latin typeface="Noto Sans SC"/>
                <a:ea typeface="Noto Sans SC"/>
                <a:cs typeface="Noto Sans SC"/>
              </a:rPr>
              <a:t>一个工程变更令登记册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2190750"/>
            <a:ext cx="2794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每个角色只看到自己要填的栏位：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9500" y="2190750"/>
            <a:ext cx="1143000" cy="342900"/>
          </a:xfrm>
          <a:prstGeom prst="roundRect">
            <a:avLst>
              <a:gd name="adj" fmla="val 50000"/>
            </a:avLst>
          </a:prstGeom>
          <a:solidFill>
            <a:srgbClr val="FCE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9500" y="2190750"/>
            <a:ext cx="1143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7A3B00"/>
                </a:solidFill>
                <a:latin typeface="Noto Sans SC"/>
                <a:ea typeface="Noto Sans SC"/>
                <a:cs typeface="Noto Sans SC"/>
              </a:rPr>
              <a:t>▲ 承包商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64100" y="2190750"/>
            <a:ext cx="1905000" cy="342900"/>
          </a:xfrm>
          <a:prstGeom prst="roundRect">
            <a:avLst>
              <a:gd name="adj" fmla="val 50000"/>
            </a:avLst>
          </a:prstGeom>
          <a:solidFill>
            <a:srgbClr val="DF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4100" y="2190750"/>
            <a:ext cx="190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B3494"/>
                </a:solidFill>
                <a:latin typeface="Noto Sans SC"/>
                <a:ea typeface="Noto Sans SC"/>
                <a:cs typeface="Noto Sans SC"/>
              </a:rPr>
              <a:t>✦ 咨询工料测量师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70700" y="2190750"/>
            <a:ext cx="952500" cy="342900"/>
          </a:xfrm>
          <a:prstGeom prst="roundRect">
            <a:avLst>
              <a:gd name="adj" fmla="val 50000"/>
            </a:avLst>
          </a:prstGeom>
          <a:solidFill>
            <a:srgbClr val="D6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70700" y="2190750"/>
            <a:ext cx="952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B6B3B"/>
                </a:solidFill>
                <a:latin typeface="Noto Sans SC"/>
                <a:ea typeface="Noto Sans SC"/>
                <a:cs typeface="Noto Sans SC"/>
              </a:rPr>
              <a:t>◉ 业主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800" y="2730500"/>
            <a:ext cx="3429000" cy="1524000"/>
          </a:xfrm>
          <a:prstGeom prst="roundRect">
            <a:avLst>
              <a:gd name="adj" fmla="val 8333"/>
            </a:avLst>
          </a:prstGeom>
          <a:solidFill>
            <a:srgbClr val="1C2440"/>
          </a:solidFill>
          <a:ln w="12700">
            <a:solidFill>
              <a:srgbClr val="2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0600" y="2908300"/>
            <a:ext cx="330200" cy="3302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2182A"/>
                </a:solidFill>
                <a:latin typeface="DM Sans"/>
                <a:ea typeface="Noto Sans SC"/>
                <a:cs typeface="DM San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7800" y="2921000"/>
            <a:ext cx="26162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合同清单单价核对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7800" y="3302000"/>
            <a:ext cx="26162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相符 / 不同 / 新增单价，并说明理由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1500" y="2730500"/>
            <a:ext cx="3429000" cy="1524000"/>
          </a:xfrm>
          <a:prstGeom prst="roundRect">
            <a:avLst>
              <a:gd name="adj" fmla="val 8333"/>
            </a:avLst>
          </a:prstGeom>
          <a:solidFill>
            <a:srgbClr val="1C2440"/>
          </a:solidFill>
          <a:ln w="12700">
            <a:solidFill>
              <a:srgbClr val="2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59300" y="2908300"/>
            <a:ext cx="330200" cy="3302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2182A"/>
                </a:solidFill>
                <a:latin typeface="DM Sans"/>
                <a:ea typeface="Noto Sans SC"/>
                <a:cs typeface="DM San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16500" y="2921000"/>
            <a:ext cx="26162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合同条款分析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16500" y="3302000"/>
            <a:ext cx="26162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PAM 2018 / PWD 203A 条款、合同权利与所需证明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0200" y="2730500"/>
            <a:ext cx="3429000" cy="1524000"/>
          </a:xfrm>
          <a:prstGeom prst="roundRect">
            <a:avLst>
              <a:gd name="adj" fmla="val 8333"/>
            </a:avLst>
          </a:prstGeom>
          <a:solidFill>
            <a:srgbClr val="1C2440"/>
          </a:solidFill>
          <a:ln w="12700">
            <a:solidFill>
              <a:srgbClr val="2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28000" y="2908300"/>
            <a:ext cx="330200" cy="3302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2182A"/>
                </a:solidFill>
                <a:latin typeface="DM Sans"/>
                <a:ea typeface="Noto Sans SC"/>
                <a:cs typeface="DM San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85200" y="2921000"/>
            <a:ext cx="26162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连带计量提醒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85200" y="3302000"/>
            <a:ext cx="26162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换墙？防潮层、踢脚线、饰面也要检查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800" y="4394200"/>
            <a:ext cx="3429000" cy="1524000"/>
          </a:xfrm>
          <a:prstGeom prst="roundRect">
            <a:avLst>
              <a:gd name="adj" fmla="val 8333"/>
            </a:avLst>
          </a:prstGeom>
          <a:solidFill>
            <a:srgbClr val="1C2440"/>
          </a:solidFill>
          <a:ln w="12700">
            <a:solidFill>
              <a:srgbClr val="2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0600" y="4572000"/>
            <a:ext cx="330200" cy="3302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2182A"/>
                </a:solidFill>
                <a:latin typeface="DM Sans"/>
                <a:ea typeface="Noto Sans SC"/>
                <a:cs typeface="DM San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800" y="4584700"/>
            <a:ext cx="26162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合同时限追踪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7800" y="4965700"/>
            <a:ext cx="26162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仪表板提醒每个角色还剩几天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1500" y="4394200"/>
            <a:ext cx="3429000" cy="1524000"/>
          </a:xfrm>
          <a:prstGeom prst="roundRect">
            <a:avLst>
              <a:gd name="adj" fmla="val 8333"/>
            </a:avLst>
          </a:prstGeom>
          <a:solidFill>
            <a:srgbClr val="1C2440"/>
          </a:solidFill>
          <a:ln w="12700">
            <a:solidFill>
              <a:srgbClr val="2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59300" y="4572000"/>
            <a:ext cx="330200" cy="3302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2182A"/>
                </a:solidFill>
                <a:latin typeface="DM Sans"/>
                <a:ea typeface="Noto Sans SC"/>
                <a:cs typeface="DM San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16500" y="4584700"/>
            <a:ext cx="26162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文件与版本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16500" y="4965700"/>
            <a:ext cx="26162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图纸、报价单、合同一键打开，保留旧版本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0200" y="4394200"/>
            <a:ext cx="3429000" cy="1524000"/>
          </a:xfrm>
          <a:prstGeom prst="roundRect">
            <a:avLst>
              <a:gd name="adj" fmla="val 8333"/>
            </a:avLst>
          </a:prstGeom>
          <a:solidFill>
            <a:srgbClr val="1C2440"/>
          </a:solidFill>
          <a:ln w="12700">
            <a:solidFill>
              <a:srgbClr val="2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28000" y="4572000"/>
            <a:ext cx="330200" cy="3302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2182A"/>
                </a:solidFill>
                <a:latin typeface="DM Sans"/>
                <a:ea typeface="Noto Sans SC"/>
                <a:cs typeface="DM Sans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85200" y="4584700"/>
            <a:ext cx="26162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报告与 Excel 导出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85200" y="4965700"/>
            <a:ext cx="26162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十节工程变更令报告、汇总报告、整本登记册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2600" y="330200"/>
            <a:ext cx="355600" cy="355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74400" y="330200"/>
            <a:ext cx="635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spc="50">
                <a:solidFill>
                  <a:srgbClr val="F6F4EF"/>
                </a:solidFill>
                <a:latin typeface="DM Sans"/>
                <a:ea typeface="Noto Sans SC"/>
                <a:cs typeface="DM Sans"/>
              </a:rPr>
              <a:t>VO-AI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50000"/>
            <a:ext cx="635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50">
                <a:solidFill>
                  <a:srgbClr val="8C95AD"/>
                </a:solidFill>
                <a:latin typeface="Noto Sans SC"/>
                <a:ea typeface="Noto Sans SC"/>
                <a:cs typeface="Noto Sans SC"/>
              </a:rPr>
              <a:t>GUD · 海之子杯 AI智能体挑战计划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6350000"/>
            <a:ext cx="3327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spc="50">
                <a:solidFill>
                  <a:srgbClr val="8C95AD"/>
                </a:solidFill>
                <a:latin typeface="DM Sans"/>
                <a:ea typeface="Noto Sans SC"/>
                <a:cs typeface="DM Sans"/>
              </a:rPr>
              <a:t>CY · 06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698500"/>
            <a:ext cx="952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300">
                <a:solidFill>
                  <a:srgbClr val="E8A54B"/>
                </a:solidFill>
                <a:latin typeface="DM Sans"/>
                <a:ea typeface="Noto Sans SC"/>
                <a:cs typeface="DM Sans"/>
              </a:rPr>
              <a:t>TECHNICAL SOLUTION · 技术方案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977900"/>
            <a:ext cx="10566400" cy="1035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基于规则的智能体：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E8A54B"/>
                </a:solidFill>
                <a:latin typeface="Noto Sans SC"/>
                <a:ea typeface="Noto Sans SC"/>
                <a:cs typeface="Noto Sans SC"/>
              </a:rPr>
              <a:t>可追溯，不编造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2190750"/>
            <a:ext cx="2317750" cy="1365250"/>
          </a:xfrm>
          <a:prstGeom prst="roundRect">
            <a:avLst>
              <a:gd name="adj" fmla="val 9302"/>
            </a:avLst>
          </a:prstGeom>
          <a:solidFill>
            <a:srgbClr val="1C2440"/>
          </a:solidFill>
          <a:ln w="12700">
            <a:solidFill>
              <a:srgbClr val="2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0600" y="2368550"/>
            <a:ext cx="330200" cy="3302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2182A"/>
                </a:solidFill>
                <a:latin typeface="DM Sans"/>
                <a:ea typeface="Noto Sans SC"/>
                <a:cs typeface="DM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2400" y="2368550"/>
            <a:ext cx="155575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感知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2825750"/>
            <a:ext cx="196215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读取变更令、计量、已标价清单；自己识别上传的 BQ 栏位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19450" y="2794000"/>
            <a:ext cx="254000" cy="152400"/>
          </a:xfrm>
          <a:prstGeom prst="rightArrow">
            <a:avLst/>
          </a:prstGeom>
          <a:solidFill>
            <a:srgbClr val="8C9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62350" y="2190750"/>
            <a:ext cx="2317750" cy="1365250"/>
          </a:xfrm>
          <a:prstGeom prst="roundRect">
            <a:avLst>
              <a:gd name="adj" fmla="val 9302"/>
            </a:avLst>
          </a:prstGeom>
          <a:solidFill>
            <a:srgbClr val="1C2440"/>
          </a:solidFill>
          <a:ln w="12700">
            <a:solidFill>
              <a:srgbClr val="2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40150" y="2368550"/>
            <a:ext cx="330200" cy="3302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2182A"/>
                </a:solidFill>
                <a:latin typeface="DM Sans"/>
                <a:ea typeface="Noto Sans SC"/>
                <a:cs typeface="DM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1950" y="2368550"/>
            <a:ext cx="155575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推理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0150" y="2825750"/>
            <a:ext cx="196215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分类、找清单项目、核价、匹配条款、推断连带计量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69000" y="2794000"/>
            <a:ext cx="254000" cy="152400"/>
          </a:xfrm>
          <a:prstGeom prst="rightArrow">
            <a:avLst/>
          </a:prstGeom>
          <a:solidFill>
            <a:srgbClr val="8C9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11900" y="2190750"/>
            <a:ext cx="2317750" cy="1365250"/>
          </a:xfrm>
          <a:prstGeom prst="roundRect">
            <a:avLst>
              <a:gd name="adj" fmla="val 9302"/>
            </a:avLst>
          </a:prstGeom>
          <a:solidFill>
            <a:srgbClr val="1C2440"/>
          </a:solidFill>
          <a:ln w="12700">
            <a:solidFill>
              <a:srgbClr val="2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89700" y="2368550"/>
            <a:ext cx="330200" cy="3302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2182A"/>
                </a:solidFill>
                <a:latin typeface="DM Sans"/>
                <a:ea typeface="Noto Sans SC"/>
                <a:cs typeface="DM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1500" y="2368550"/>
            <a:ext cx="155575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行动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9700" y="2825750"/>
            <a:ext cx="196215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标出问题、提醒时限、起草报告、回答提问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18550" y="2794000"/>
            <a:ext cx="254000" cy="152400"/>
          </a:xfrm>
          <a:prstGeom prst="rightArrow">
            <a:avLst/>
          </a:prstGeom>
          <a:solidFill>
            <a:srgbClr val="8C9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61450" y="2190750"/>
            <a:ext cx="2317750" cy="1365250"/>
          </a:xfrm>
          <a:prstGeom prst="roundRect">
            <a:avLst>
              <a:gd name="adj" fmla="val 9302"/>
            </a:avLst>
          </a:prstGeom>
          <a:solidFill>
            <a:srgbClr val="1C2440"/>
          </a:solidFill>
          <a:ln w="12700">
            <a:solidFill>
              <a:srgbClr val="2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39250" y="2368550"/>
            <a:ext cx="330200" cy="3302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2182A"/>
                </a:solidFill>
                <a:latin typeface="DM Sans"/>
                <a:ea typeface="Noto Sans SC"/>
                <a:cs typeface="DM San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1050" y="2368550"/>
            <a:ext cx="155575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记录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9250" y="2825750"/>
            <a:ext cx="196215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登记册、文件版本、谁在何时改了什么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800" y="3746500"/>
            <a:ext cx="10566400" cy="889000"/>
          </a:xfrm>
          <a:prstGeom prst="roundRect">
            <a:avLst>
              <a:gd name="adj" fmla="val 14285"/>
            </a:avLst>
          </a:prstGeom>
          <a:solidFill>
            <a:srgbClr val="E8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6800" y="3746500"/>
            <a:ext cx="3048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2182A"/>
                </a:solidFill>
                <a:latin typeface="Noto Sans SC"/>
                <a:ea typeface="Noto Sans SC"/>
                <a:cs typeface="Noto Sans SC"/>
              </a:rPr>
              <a:t>铁律：AI 不碰数字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91000" y="3746500"/>
            <a:ext cx="6985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2182A"/>
                </a:solidFill>
                <a:latin typeface="Noto Sans SC"/>
                <a:ea typeface="Noto Sans SC"/>
                <a:cs typeface="Noto Sans SC"/>
              </a:rPr>
              <a:t>所有金额只由规则引擎计算，每个数字都能追溯。下一版：大语言模型负责读懂文字，再把这些函数当工具调用。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800" y="4857750"/>
            <a:ext cx="2540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E8A54B"/>
                </a:solidFill>
                <a:latin typeface="DM Sans"/>
                <a:ea typeface="Noto Sans SC"/>
                <a:cs typeface="DM Sans"/>
              </a:rPr>
              <a:t>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2800" y="53975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个模块，各自独立测试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2500" y="4857750"/>
            <a:ext cx="2540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E8A54B"/>
                </a:solidFill>
                <a:latin typeface="DM Sans"/>
                <a:ea typeface="Noto Sans SC"/>
                <a:cs typeface="DM Sans"/>
              </a:rPr>
              <a:t>327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92500" y="53975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项自动化测试，全部通过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4857750"/>
            <a:ext cx="2540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E8A54B"/>
                </a:solidFill>
                <a:latin typeface="DM Sans"/>
                <a:ea typeface="Noto Sans SC"/>
                <a:cs typeface="DM Sans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53975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个外部依赖，数据不离开浏览器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51900" y="4857750"/>
            <a:ext cx="2540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E8A54B"/>
                </a:solidFill>
                <a:latin typeface="DM Sans"/>
                <a:ea typeface="Noto Sans SC"/>
                <a:cs typeface="DM Sans"/>
              </a:rPr>
              <a:t>已上线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1900" y="53975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打开链接即可使用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2600" y="330200"/>
            <a:ext cx="355600" cy="355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74400" y="330200"/>
            <a:ext cx="635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spc="50">
                <a:solidFill>
                  <a:srgbClr val="F6F4EF"/>
                </a:solidFill>
                <a:latin typeface="DM Sans"/>
                <a:ea typeface="Noto Sans SC"/>
                <a:cs typeface="DM Sans"/>
              </a:rPr>
              <a:t>VO-AI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50000"/>
            <a:ext cx="635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50">
                <a:solidFill>
                  <a:srgbClr val="8C95AD"/>
                </a:solidFill>
                <a:latin typeface="Noto Sans SC"/>
                <a:ea typeface="Noto Sans SC"/>
                <a:cs typeface="Noto Sans SC"/>
              </a:rPr>
              <a:t>GUD · 海之子杯 AI智能体挑战计划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6350000"/>
            <a:ext cx="3327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spc="50">
                <a:solidFill>
                  <a:srgbClr val="8C95AD"/>
                </a:solidFill>
                <a:latin typeface="DM Sans"/>
                <a:ea typeface="Noto Sans SC"/>
                <a:cs typeface="DM Sans"/>
              </a:rPr>
              <a:t>S · 07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698500"/>
            <a:ext cx="952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300">
                <a:solidFill>
                  <a:srgbClr val="E8A54B"/>
                </a:solidFill>
                <a:latin typeface="DM Sans"/>
                <a:ea typeface="Noto Sans SC"/>
                <a:cs typeface="DM Sans"/>
              </a:rPr>
              <a:t>ARCHITECTURE · 系统架构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977900"/>
            <a:ext cx="1056640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从三方输入，</a:t>
            </a:r>
          </a:p>
          <a:p>
            <a:pPr algn="l">
              <a:lnSpc>
                <a:spcPct val="110000"/>
              </a:lnSpc>
            </a:pPr>
            <a:r>
              <a:rPr sz="3200" b="1">
                <a:solidFill>
                  <a:srgbClr val="E8A54B"/>
                </a:solidFill>
                <a:latin typeface="Noto Sans SC"/>
                <a:ea typeface="Noto Sans SC"/>
                <a:cs typeface="Noto Sans SC"/>
              </a:rPr>
              <a:t>到可追溯的输出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21907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8C95AD"/>
                </a:solidFill>
                <a:latin typeface="DM Sans"/>
                <a:ea typeface="Noto Sans SC"/>
                <a:cs typeface="DM Sans"/>
              </a:rPr>
              <a:t>USERS · 使用者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800" y="2476500"/>
            <a:ext cx="1905000" cy="431800"/>
          </a:xfrm>
          <a:prstGeom prst="roundRect">
            <a:avLst>
              <a:gd name="adj" fmla="val 20588"/>
            </a:avLst>
          </a:prstGeom>
          <a:solidFill>
            <a:srgbClr val="FCE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9800" y="2476500"/>
            <a:ext cx="17145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7A3B00"/>
                </a:solidFill>
                <a:latin typeface="Noto Sans SC"/>
                <a:ea typeface="Noto Sans SC"/>
                <a:cs typeface="Noto Sans SC"/>
              </a:rPr>
              <a:t>▲ 承包商工料测量师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3022600"/>
            <a:ext cx="1905000" cy="431800"/>
          </a:xfrm>
          <a:prstGeom prst="roundRect">
            <a:avLst>
              <a:gd name="adj" fmla="val 20588"/>
            </a:avLst>
          </a:prstGeom>
          <a:solidFill>
            <a:srgbClr val="DF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022600"/>
            <a:ext cx="17145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B3494"/>
                </a:solidFill>
                <a:latin typeface="Noto Sans SC"/>
                <a:ea typeface="Noto Sans SC"/>
                <a:cs typeface="Noto Sans SC"/>
              </a:rPr>
              <a:t>✦ 咨询工料测量师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800" y="3568700"/>
            <a:ext cx="1905000" cy="431800"/>
          </a:xfrm>
          <a:prstGeom prst="roundRect">
            <a:avLst>
              <a:gd name="adj" fmla="val 20588"/>
            </a:avLst>
          </a:prstGeom>
          <a:solidFill>
            <a:srgbClr val="D6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9800" y="3568700"/>
            <a:ext cx="17145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B6B3B"/>
                </a:solidFill>
                <a:latin typeface="Noto Sans SC"/>
                <a:ea typeface="Noto Sans SC"/>
                <a:cs typeface="Noto Sans SC"/>
              </a:rPr>
              <a:t>◉ 业主 / 发展商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832100" y="3397250"/>
            <a:ext cx="330200" cy="190500"/>
          </a:xfrm>
          <a:prstGeom prst="rightArrow">
            <a:avLst/>
          </a:prstGeom>
          <a:solidFill>
            <a:srgbClr val="E8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76600" y="2190750"/>
            <a:ext cx="5829300" cy="2603500"/>
          </a:xfrm>
          <a:prstGeom prst="roundRect">
            <a:avLst>
              <a:gd name="adj" fmla="val 5365"/>
            </a:avLst>
          </a:prstGeom>
          <a:solidFill>
            <a:srgbClr val="1C2440"/>
          </a:solidFill>
          <a:ln w="12700">
            <a:solidFill>
              <a:srgbClr val="E8A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2317750"/>
            <a:ext cx="5524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A54B"/>
                </a:solidFill>
                <a:latin typeface="Noto Sans SC"/>
                <a:ea typeface="Noto Sans SC"/>
                <a:cs typeface="Noto Sans SC"/>
              </a:rPr>
              <a:t>VO-AI 网页应用（浏览器内运行）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2603500"/>
            <a:ext cx="5524500" cy="406400"/>
          </a:xfrm>
          <a:prstGeom prst="roundRect">
            <a:avLst>
              <a:gd name="adj" fmla="val 18750"/>
            </a:avLst>
          </a:prstGeom>
          <a:solidFill>
            <a:srgbClr val="2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56000" y="2603500"/>
            <a:ext cx="52705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界面层</a:t>
            </a:r>
            <a:r>
              <a:rPr sz="1250" b="0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 · 仪表板 · 登记册 · 变更令 · 文件 · AI 分析 · 报告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3098800"/>
            <a:ext cx="5524500" cy="711200"/>
          </a:xfrm>
          <a:prstGeom prst="roundRect">
            <a:avLst>
              <a:gd name="adj" fmla="val 10714"/>
            </a:avLst>
          </a:prstGeom>
          <a:solidFill>
            <a:srgbClr val="E8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56000" y="3175000"/>
            <a:ext cx="5270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182A"/>
                </a:solidFill>
                <a:latin typeface="Noto Sans SC"/>
                <a:ea typeface="Noto Sans SC"/>
                <a:cs typeface="Noto Sans SC"/>
              </a:rPr>
              <a:t>智能体引擎（规则、可测试）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56000" y="3460750"/>
            <a:ext cx="52705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2182A"/>
                </a:solidFill>
                <a:latin typeface="Noto Sans SC"/>
                <a:ea typeface="Noto Sans SC"/>
                <a:cs typeface="Noto Sans SC"/>
              </a:rPr>
              <a:t>分类 → 找清单项目 → 单价核对 → 条款匹配 → 连带计量 → 时限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0" y="3898900"/>
            <a:ext cx="2724150" cy="762000"/>
          </a:xfrm>
          <a:prstGeom prst="roundRect">
            <a:avLst>
              <a:gd name="adj" fmla="val 10000"/>
            </a:avLst>
          </a:prstGeom>
          <a:solidFill>
            <a:srgbClr val="2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56000" y="3898900"/>
            <a:ext cx="24701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知识库 · 合同条款 · 20 个建筑元素 · 已标价清单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9350" y="3898900"/>
            <a:ext cx="2724150" cy="762000"/>
          </a:xfrm>
          <a:prstGeom prst="roundRect">
            <a:avLst>
              <a:gd name="adj" fmla="val 10000"/>
            </a:avLst>
          </a:prstGeom>
          <a:solidFill>
            <a:srgbClr val="2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6350" y="3898900"/>
            <a:ext cx="24701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数据层 · 登记册与审计记录 · 上传的文件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220200" y="3397250"/>
            <a:ext cx="330200" cy="190500"/>
          </a:xfrm>
          <a:prstGeom prst="rightArrow">
            <a:avLst/>
          </a:prstGeom>
          <a:solidFill>
            <a:srgbClr val="E8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64700" y="2190750"/>
            <a:ext cx="1714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8C95AD"/>
                </a:solidFill>
                <a:latin typeface="DM Sans"/>
                <a:ea typeface="Noto Sans SC"/>
                <a:cs typeface="DM Sans"/>
              </a:rPr>
              <a:t>OUTPUT · 输出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64700" y="2476500"/>
            <a:ext cx="1714500" cy="431800"/>
          </a:xfrm>
          <a:prstGeom prst="roundRect">
            <a:avLst>
              <a:gd name="adj" fmla="val 20588"/>
            </a:avLst>
          </a:prstGeom>
          <a:solidFill>
            <a:srgbClr val="1C2440"/>
          </a:solidFill>
          <a:ln w="12700">
            <a:solidFill>
              <a:srgbClr val="2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91700" y="2476500"/>
            <a:ext cx="1524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工程变更令报告 PDF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64700" y="3022600"/>
            <a:ext cx="1714500" cy="431800"/>
          </a:xfrm>
          <a:prstGeom prst="roundRect">
            <a:avLst>
              <a:gd name="adj" fmla="val 20588"/>
            </a:avLst>
          </a:prstGeom>
          <a:solidFill>
            <a:srgbClr val="1C2440"/>
          </a:solidFill>
          <a:ln w="12700">
            <a:solidFill>
              <a:srgbClr val="2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91700" y="3022600"/>
            <a:ext cx="1524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Excel 登记册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64700" y="3568700"/>
            <a:ext cx="1714500" cy="431800"/>
          </a:xfrm>
          <a:prstGeom prst="roundRect">
            <a:avLst>
              <a:gd name="adj" fmla="val 20588"/>
            </a:avLst>
          </a:prstGeom>
          <a:solidFill>
            <a:srgbClr val="1C2440"/>
          </a:solidFill>
          <a:ln w="12700">
            <a:solidFill>
              <a:srgbClr val="2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91700" y="3568700"/>
            <a:ext cx="1524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待办与时限提醒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2800" y="5016500"/>
            <a:ext cx="10566400" cy="482600"/>
          </a:xfrm>
          <a:prstGeom prst="roundRect">
            <a:avLst>
              <a:gd name="adj" fmla="val 21052"/>
            </a:avLst>
          </a:prstGeom>
          <a:noFill/>
          <a:ln w="12700">
            <a:solidFill>
              <a:srgbClr val="8C95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0600" y="5016500"/>
            <a:ext cx="6985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8A54B"/>
                </a:solidFill>
                <a:latin typeface="Noto Sans SC"/>
                <a:ea typeface="Noto Sans SC"/>
                <a:cs typeface="Noto Sans SC"/>
              </a:rPr>
              <a:t>下一版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14500" y="5016500"/>
            <a:ext cx="9525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大语言模型理解层 → 读懂指令与报价单 → 调用上面的引擎函数；服务器 + 账户，让三方跨电脑协作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2600" y="330200"/>
            <a:ext cx="355600" cy="355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74400" y="330200"/>
            <a:ext cx="635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spc="50">
                <a:solidFill>
                  <a:srgbClr val="F6F4EF"/>
                </a:solidFill>
                <a:latin typeface="DM Sans"/>
                <a:ea typeface="Noto Sans SC"/>
                <a:cs typeface="DM Sans"/>
              </a:rPr>
              <a:t>VO-AI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50000"/>
            <a:ext cx="635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50">
                <a:solidFill>
                  <a:srgbClr val="8C95AD"/>
                </a:solidFill>
                <a:latin typeface="Noto Sans SC"/>
                <a:ea typeface="Noto Sans SC"/>
                <a:cs typeface="Noto Sans SC"/>
              </a:rPr>
              <a:t>GUD · 海之子杯 AI智能体挑战计划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6350000"/>
            <a:ext cx="3327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spc="50">
                <a:solidFill>
                  <a:srgbClr val="8C95AD"/>
                </a:solidFill>
                <a:latin typeface="DM Sans"/>
                <a:ea typeface="Noto Sans SC"/>
                <a:cs typeface="DM Sans"/>
              </a:rPr>
              <a:t>S · 08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698500"/>
            <a:ext cx="952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300">
                <a:solidFill>
                  <a:srgbClr val="E8A54B"/>
                </a:solidFill>
                <a:latin typeface="DM Sans"/>
                <a:ea typeface="Noto Sans SC"/>
                <a:cs typeface="DM Sans"/>
              </a:rPr>
              <a:t>DEMO · 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977900"/>
            <a:ext cx="1056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VO-001：</a:t>
            </a:r>
          </a:p>
          <a:p>
            <a:pPr algn="l">
              <a:lnSpc>
                <a:spcPct val="110000"/>
              </a:lnSpc>
            </a:pPr>
            <a:r>
              <a:rPr sz="3000" b="1">
                <a:solidFill>
                  <a:srgbClr val="E8A54B"/>
                </a:solidFill>
                <a:latin typeface="Noto Sans SC"/>
                <a:ea typeface="Noto Sans SC"/>
                <a:cs typeface="Noto Sans SC"/>
              </a:rPr>
              <a:t>客厅地砖由瓷砖改为大理石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2095500"/>
            <a:ext cx="6096000" cy="3429000"/>
          </a:xfrm>
          <a:prstGeom prst="roundRect">
            <a:avLst>
              <a:gd name="adj" fmla="val 3703"/>
            </a:avLst>
          </a:prstGeom>
          <a:solidFill>
            <a:srgbClr val="1C2440"/>
          </a:solidFill>
          <a:ln w="12700">
            <a:solidFill>
              <a:srgbClr val="E8A5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3479800" y="3302000"/>
            <a:ext cx="762000" cy="762000"/>
          </a:xfrm>
          <a:prstGeom prst="triangle">
            <a:avLst/>
          </a:prstGeom>
          <a:solidFill>
            <a:srgbClr val="E8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800" y="4318000"/>
            <a:ext cx="6096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此处插入 2 分钟演示视频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13600" y="2095500"/>
            <a:ext cx="41656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200">
                <a:solidFill>
                  <a:srgbClr val="8C95AD"/>
                </a:solidFill>
                <a:latin typeface="DM Sans"/>
                <a:ea typeface="Noto Sans SC"/>
                <a:cs typeface="DM Sans"/>
              </a:rPr>
              <a:t>WATCH FOR · 看点</a:t>
            </a:r>
          </a:p>
        </p:txBody>
      </p:sp>
      <p:sp>
        <p:nvSpPr>
          <p:cNvPr id="12" name="Oval 11"/>
          <p:cNvSpPr/>
          <p:nvPr/>
        </p:nvSpPr>
        <p:spPr>
          <a:xfrm>
            <a:off x="7213600" y="2476500"/>
            <a:ext cx="304800" cy="3048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2182A"/>
                </a:solidFill>
                <a:latin typeface="DM Sans"/>
                <a:ea typeface="Noto Sans SC"/>
                <a:cs typeface="DM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58100" y="2476500"/>
            <a:ext cx="3746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仪表板：待办与剩余天数</a:t>
            </a:r>
          </a:p>
        </p:txBody>
      </p:sp>
      <p:sp>
        <p:nvSpPr>
          <p:cNvPr id="14" name="Oval 13"/>
          <p:cNvSpPr/>
          <p:nvPr/>
        </p:nvSpPr>
        <p:spPr>
          <a:xfrm>
            <a:off x="7213600" y="2997200"/>
            <a:ext cx="304800" cy="3048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2182A"/>
                </a:solidFill>
                <a:latin typeface="DM Sans"/>
                <a:ea typeface="Noto Sans SC"/>
                <a:cs typeface="DM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8100" y="2997200"/>
            <a:ext cx="3746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三种单价核对结果</a:t>
            </a:r>
          </a:p>
        </p:txBody>
      </p:sp>
      <p:sp>
        <p:nvSpPr>
          <p:cNvPr id="16" name="Oval 15"/>
          <p:cNvSpPr/>
          <p:nvPr/>
        </p:nvSpPr>
        <p:spPr>
          <a:xfrm>
            <a:off x="7213600" y="3517900"/>
            <a:ext cx="304800" cy="3048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2182A"/>
                </a:solidFill>
                <a:latin typeface="DM Sans"/>
                <a:ea typeface="Noto Sans SC"/>
                <a:cs typeface="DM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58100" y="3517900"/>
            <a:ext cx="3746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打开报价单：RM 248 的依据</a:t>
            </a:r>
          </a:p>
        </p:txBody>
      </p:sp>
      <p:sp>
        <p:nvSpPr>
          <p:cNvPr id="18" name="Oval 17"/>
          <p:cNvSpPr/>
          <p:nvPr/>
        </p:nvSpPr>
        <p:spPr>
          <a:xfrm>
            <a:off x="7213600" y="4038600"/>
            <a:ext cx="304800" cy="3048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2182A"/>
                </a:solidFill>
                <a:latin typeface="DM Sans"/>
                <a:ea typeface="Noto Sans SC"/>
                <a:cs typeface="DM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8100" y="4038600"/>
            <a:ext cx="3746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换墙：连带计量提醒</a:t>
            </a:r>
          </a:p>
        </p:txBody>
      </p:sp>
      <p:sp>
        <p:nvSpPr>
          <p:cNvPr id="20" name="Oval 19"/>
          <p:cNvSpPr/>
          <p:nvPr/>
        </p:nvSpPr>
        <p:spPr>
          <a:xfrm>
            <a:off x="7213600" y="4559300"/>
            <a:ext cx="304800" cy="3048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2182A"/>
                </a:solidFill>
                <a:latin typeface="DM Sans"/>
                <a:ea typeface="Noto Sans SC"/>
                <a:cs typeface="DM San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8100" y="4559300"/>
            <a:ext cx="3746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条款与报告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2600" y="330200"/>
            <a:ext cx="355600" cy="355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74400" y="330200"/>
            <a:ext cx="635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spc="50">
                <a:solidFill>
                  <a:srgbClr val="F6F4EF"/>
                </a:solidFill>
                <a:latin typeface="DM Sans"/>
                <a:ea typeface="Noto Sans SC"/>
                <a:cs typeface="DM Sans"/>
              </a:rPr>
              <a:t>VO-AI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50000"/>
            <a:ext cx="635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50">
                <a:solidFill>
                  <a:srgbClr val="8C95AD"/>
                </a:solidFill>
                <a:latin typeface="Noto Sans SC"/>
                <a:ea typeface="Noto Sans SC"/>
                <a:cs typeface="Noto Sans SC"/>
              </a:rPr>
              <a:t>GUD · 海之子杯 AI智能体挑战计划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6350000"/>
            <a:ext cx="3327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spc="50">
                <a:solidFill>
                  <a:srgbClr val="8C95AD"/>
                </a:solidFill>
                <a:latin typeface="DM Sans"/>
                <a:ea typeface="Noto Sans SC"/>
                <a:cs typeface="DM Sans"/>
              </a:rPr>
              <a:t>ZQ · 09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698500"/>
            <a:ext cx="952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300">
                <a:solidFill>
                  <a:srgbClr val="E8A54B"/>
                </a:solidFill>
                <a:latin typeface="DM Sans"/>
                <a:ea typeface="Noto Sans SC"/>
                <a:cs typeface="DM Sans"/>
              </a:rPr>
              <a:t>INNOVATION · 创新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977900"/>
            <a:ext cx="10566400" cy="1092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四个</a:t>
            </a:r>
          </a:p>
          <a:p>
            <a:pPr algn="l">
              <a:lnSpc>
                <a:spcPct val="110000"/>
              </a:lnSpc>
            </a:pPr>
            <a:r>
              <a:rPr sz="3600" b="1">
                <a:solidFill>
                  <a:srgbClr val="E8A54B"/>
                </a:solidFill>
                <a:latin typeface="Noto Sans SC"/>
                <a:ea typeface="Noto Sans SC"/>
                <a:cs typeface="Noto Sans SC"/>
              </a:rPr>
              <a:t>与众不同的地方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23495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1C2440"/>
          </a:solidFill>
          <a:ln w="12700">
            <a:solidFill>
              <a:srgbClr val="2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6000" y="2552700"/>
            <a:ext cx="457200" cy="4572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2182A"/>
                </a:solidFill>
                <a:latin typeface="DM Sans"/>
                <a:ea typeface="Noto Sans SC"/>
                <a:cs typeface="DM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5600" y="2578100"/>
            <a:ext cx="4191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不编造的智能体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5600" y="2984500"/>
            <a:ext cx="4191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没有虚构的置信度分数；不确定时直接说「无法判断」，不给一个看似合理的条款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3495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1C2440"/>
          </a:solidFill>
          <a:ln w="12700">
            <a:solidFill>
              <a:srgbClr val="2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75400" y="2552700"/>
            <a:ext cx="457200" cy="4572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2182A"/>
                </a:solidFill>
                <a:latin typeface="DM Sans"/>
                <a:ea typeface="Noto Sans SC"/>
                <a:cs typeface="DM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5000" y="2578100"/>
            <a:ext cx="4191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自动核对合同单价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2984500"/>
            <a:ext cx="4191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自己找到对应的清单项目，说明怎样匹配，并算出偏高或偏低多少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41529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1C2440"/>
          </a:solidFill>
          <a:ln w="12700">
            <a:solidFill>
              <a:srgbClr val="2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6000" y="4356100"/>
            <a:ext cx="457200" cy="4572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2182A"/>
                </a:solidFill>
                <a:latin typeface="DM Sans"/>
                <a:ea typeface="Noto Sans SC"/>
                <a:cs typeface="DM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5600" y="4381500"/>
            <a:ext cx="4191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懂得变更会连带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5600" y="4787900"/>
            <a:ext cx="4191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换墙会影响饰面、防潮层和踢脚线 —— 资深测量师记得，新手容易漏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1529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1C2440"/>
          </a:solidFill>
          <a:ln w="12700">
            <a:solidFill>
              <a:srgbClr val="2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75400" y="4356100"/>
            <a:ext cx="457200" cy="457200"/>
          </a:xfrm>
          <a:prstGeom prst="ellipse">
            <a:avLst/>
          </a:prstGeom>
          <a:solidFill>
            <a:srgbClr val="E8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12182A"/>
                </a:solidFill>
                <a:latin typeface="DM Sans"/>
                <a:ea typeface="Noto Sans SC"/>
                <a:cs typeface="DM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5000" y="4381500"/>
            <a:ext cx="4191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合同双方都用得上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5000" y="4787900"/>
            <a:ext cx="4191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承包商提交前先自查，咨询方评估，业主核证 —— 一次通过，回款更快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2600" y="330200"/>
            <a:ext cx="355600" cy="355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74400" y="330200"/>
            <a:ext cx="635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spc="50">
                <a:solidFill>
                  <a:srgbClr val="F6F4EF"/>
                </a:solidFill>
                <a:latin typeface="DM Sans"/>
                <a:ea typeface="Noto Sans SC"/>
                <a:cs typeface="DM Sans"/>
              </a:rPr>
              <a:t>VO-AI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50000"/>
            <a:ext cx="635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50">
                <a:solidFill>
                  <a:srgbClr val="8C95AD"/>
                </a:solidFill>
                <a:latin typeface="Noto Sans SC"/>
                <a:ea typeface="Noto Sans SC"/>
                <a:cs typeface="Noto Sans SC"/>
              </a:rPr>
              <a:t>GUD · 海之子杯 AI智能体挑战计划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6350000"/>
            <a:ext cx="3327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spc="50">
                <a:solidFill>
                  <a:srgbClr val="8C95AD"/>
                </a:solidFill>
                <a:latin typeface="DM Sans"/>
                <a:ea typeface="Noto Sans SC"/>
                <a:cs typeface="DM Sans"/>
              </a:rPr>
              <a:t>CY · 10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698500"/>
            <a:ext cx="952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300">
                <a:solidFill>
                  <a:srgbClr val="E8A54B"/>
                </a:solidFill>
                <a:latin typeface="DM Sans"/>
                <a:ea typeface="Noto Sans SC"/>
                <a:cs typeface="DM Sans"/>
              </a:rPr>
              <a:t>IMPACT · 影响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977900"/>
            <a:ext cx="10566400" cy="1092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为人民建好房，</a:t>
            </a:r>
          </a:p>
          <a:p>
            <a:pPr algn="l">
              <a:lnSpc>
                <a:spcPct val="110000"/>
              </a:lnSpc>
            </a:pPr>
            <a:r>
              <a:rPr sz="3600" b="1">
                <a:solidFill>
                  <a:srgbClr val="E8A54B"/>
                </a:solidFill>
                <a:latin typeface="Noto Sans SC"/>
                <a:ea typeface="Noto Sans SC"/>
                <a:cs typeface="Noto Sans SC"/>
              </a:rPr>
              <a:t>为工友谋幸福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2286000"/>
            <a:ext cx="3416300" cy="1905000"/>
          </a:xfrm>
          <a:prstGeom prst="roundRect">
            <a:avLst>
              <a:gd name="adj" fmla="val 6666"/>
            </a:avLst>
          </a:prstGeom>
          <a:solidFill>
            <a:srgbClr val="1C2440"/>
          </a:solidFill>
          <a:ln w="12700">
            <a:solidFill>
              <a:srgbClr val="2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6000" y="2463800"/>
            <a:ext cx="3048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E8A54B"/>
                </a:solidFill>
                <a:latin typeface="DM Sans"/>
                <a:ea typeface="Noto Sans SC"/>
                <a:cs typeface="DM Sans"/>
              </a:rPr>
              <a:t>RM 6,952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143250"/>
            <a:ext cx="3048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示范案例 VO-001 中系统找出的差额：申索 RM 62,808 → 评估 RM 55,856（约 11%）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7850" y="2286000"/>
            <a:ext cx="3416300" cy="1905000"/>
          </a:xfrm>
          <a:prstGeom prst="roundRect">
            <a:avLst>
              <a:gd name="adj" fmla="val 6666"/>
            </a:avLst>
          </a:prstGeom>
          <a:solidFill>
            <a:srgbClr val="1C2440"/>
          </a:solidFill>
          <a:ln w="12700">
            <a:solidFill>
              <a:srgbClr val="2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1050" y="2463800"/>
            <a:ext cx="3048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E8A54B"/>
                </a:solidFill>
                <a:latin typeface="DM Sans"/>
                <a:ea typeface="Noto Sans SC"/>
                <a:cs typeface="DM Sans"/>
              </a:rPr>
              <a:t>1 个登记册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1050" y="3143250"/>
            <a:ext cx="3048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三方的资料、文件、时限和审计记录集中在一处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62900" y="2286000"/>
            <a:ext cx="3416300" cy="1905000"/>
          </a:xfrm>
          <a:prstGeom prst="roundRect">
            <a:avLst>
              <a:gd name="adj" fmla="val 6666"/>
            </a:avLst>
          </a:prstGeom>
          <a:solidFill>
            <a:srgbClr val="1C2440"/>
          </a:solidFill>
          <a:ln w="12700">
            <a:solidFill>
              <a:srgbClr val="2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6100" y="2463800"/>
            <a:ext cx="3048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E8A54B"/>
                </a:solidFill>
                <a:latin typeface="DM Sans"/>
                <a:ea typeface="Noto Sans SC"/>
                <a:cs typeface="DM Sans"/>
              </a:rPr>
              <a:t>30·28·28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6100" y="3143250"/>
            <a:ext cx="3048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评估、补充资料、回复三个合同时限自动追踪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" y="4445000"/>
            <a:ext cx="2527300" cy="31750"/>
          </a:xfrm>
          <a:prstGeom prst="rect">
            <a:avLst/>
          </a:prstGeom>
          <a:solidFill>
            <a:srgbClr val="7D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800" y="4584700"/>
            <a:ext cx="25273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工作提效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4921250"/>
            <a:ext cx="25273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逐项核价交给系统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92500" y="4445000"/>
            <a:ext cx="2527300" cy="31750"/>
          </a:xfrm>
          <a:prstGeom prst="rect">
            <a:avLst/>
          </a:prstGeom>
          <a:solidFill>
            <a:srgbClr val="7D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92500" y="4584700"/>
            <a:ext cx="25273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技能提升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2500" y="4921250"/>
            <a:ext cx="25273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每个提醒都说明原因，边用边学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4445000"/>
            <a:ext cx="2527300" cy="31750"/>
          </a:xfrm>
          <a:prstGeom prst="rect">
            <a:avLst/>
          </a:prstGeom>
          <a:solidFill>
            <a:srgbClr val="7D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4584700"/>
            <a:ext cx="25273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流程优化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4921250"/>
            <a:ext cx="25273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按合同透明计价，守住预算与品质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51900" y="4445000"/>
            <a:ext cx="2527300" cy="31750"/>
          </a:xfrm>
          <a:prstGeom prst="rect">
            <a:avLst/>
          </a:prstGeom>
          <a:solidFill>
            <a:srgbClr val="E8A5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51900" y="4584700"/>
            <a:ext cx="25273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4EF"/>
                </a:solidFill>
                <a:latin typeface="Noto Sans SC"/>
                <a:ea typeface="Noto Sans SC"/>
                <a:cs typeface="Noto Sans SC"/>
              </a:rPr>
              <a:t>款项更快到位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1900" y="4921250"/>
            <a:ext cx="25273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核证更快，分包商与工友更早收款（间接）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2600" y="330200"/>
            <a:ext cx="355600" cy="355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74400" y="330200"/>
            <a:ext cx="635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spc="50">
                <a:solidFill>
                  <a:srgbClr val="F6F4EF"/>
                </a:solidFill>
                <a:latin typeface="DM Sans"/>
                <a:ea typeface="Noto Sans SC"/>
                <a:cs typeface="DM Sans"/>
              </a:rPr>
              <a:t>VO-AI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50000"/>
            <a:ext cx="635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50">
                <a:solidFill>
                  <a:srgbClr val="8C95AD"/>
                </a:solidFill>
                <a:latin typeface="Noto Sans SC"/>
                <a:ea typeface="Noto Sans SC"/>
                <a:cs typeface="Noto Sans SC"/>
              </a:rPr>
              <a:t>GUD · 海之子杯 AI智能体挑战计划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6350000"/>
            <a:ext cx="33274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spc="50">
                <a:solidFill>
                  <a:srgbClr val="8C95AD"/>
                </a:solidFill>
                <a:latin typeface="DM Sans"/>
                <a:ea typeface="Noto Sans SC"/>
                <a:cs typeface="DM Sans"/>
              </a:rPr>
              <a:t>GUD · 11 / 11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0" y="1079500"/>
            <a:ext cx="1016000" cy="101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1000" y="2349500"/>
            <a:ext cx="11430000" cy="107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0" b="1" spc="200">
                <a:solidFill>
                  <a:srgbClr val="F6F4EF"/>
                </a:solidFill>
                <a:latin typeface="DM Sans"/>
                <a:ea typeface="Noto Sans SC"/>
                <a:cs typeface="DM Sans"/>
              </a:rPr>
              <a:t>THANK YOU · </a:t>
            </a:r>
            <a:r>
              <a:rPr sz="7500" b="1" spc="200">
                <a:solidFill>
                  <a:srgbClr val="E8A54B"/>
                </a:solidFill>
                <a:latin typeface="DM Sans"/>
                <a:ea typeface="Noto Sans SC"/>
                <a:cs typeface="DM Sans"/>
              </a:rPr>
              <a:t>谢谢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3619500"/>
            <a:ext cx="10566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BFC6D6"/>
                </a:solidFill>
                <a:latin typeface="Noto Sans SC"/>
                <a:ea typeface="Noto Sans SC"/>
                <a:cs typeface="Noto Sans SC"/>
              </a:rPr>
              <a:t>让每一份工程变更令，都按合同算清楚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38500" y="4254500"/>
            <a:ext cx="5715000" cy="4826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E8A5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38500" y="4254500"/>
            <a:ext cx="5715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E8A54B"/>
                </a:solidFill>
                <a:latin typeface="DM Sans"/>
                <a:ea typeface="Noto Sans SC"/>
                <a:cs typeface="DM Sans"/>
              </a:rPr>
              <a:t>欢迎现场试用 · cytang1107.github.io/VO-AI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